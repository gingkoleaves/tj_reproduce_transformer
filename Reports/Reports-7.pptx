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Transformer</a:t>
            </a:r>
            <a:r>
              <a:rPr lang="zh-CN" altLang="en-US"/>
              <a:t>复现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</a:t>
            </a:r>
            <a:r>
              <a:rPr lang="en-US" altLang="zh-CN"/>
              <a:t>3</a:t>
            </a:r>
            <a:r>
              <a:rPr lang="zh-CN" altLang="en-US"/>
              <a:t>日</a:t>
            </a:r>
            <a:endParaRPr lang="zh-CN" altLang="en-US"/>
          </a:p>
          <a:p>
            <a:r>
              <a:rPr lang="zh-CN" altLang="en-US"/>
              <a:t>庄子硕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3783965"/>
            <a:ext cx="4302125" cy="2494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en-US" altLang="zh-CN" sz="4400" b="0"/>
              <a:t>目录</a:t>
            </a:r>
            <a:endParaRPr lang="en-US" altLang="zh-CN" sz="4400" b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800"/>
              <a:t>一、前期准备</a:t>
            </a:r>
            <a:endParaRPr lang="zh-CN" altLang="en-US" sz="2800"/>
          </a:p>
          <a:p>
            <a:r>
              <a:rPr lang="zh-CN" altLang="en-US" sz="2800"/>
              <a:t>二、复现流程</a:t>
            </a:r>
            <a:endParaRPr lang="zh-CN" altLang="en-US" sz="2800"/>
          </a:p>
          <a:p>
            <a:r>
              <a:rPr lang="zh-CN" altLang="en-US" sz="2800"/>
              <a:t>三、问题</a:t>
            </a:r>
            <a:endParaRPr lang="zh-CN" altLang="en-US" sz="2800"/>
          </a:p>
          <a:p>
            <a:r>
              <a:rPr lang="zh-CN" altLang="en-US" sz="2800"/>
              <a:t>四、总结</a:t>
            </a:r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1325" y="509905"/>
            <a:ext cx="4133850" cy="5667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400"/>
              <a:t>一、前期准备</a:t>
            </a:r>
            <a:endParaRPr lang="zh-CN" altLang="en-US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过一遍论文了解大概，后续复现过程中再回来看细节</a:t>
            </a:r>
            <a:endParaRPr lang="zh-CN" altLang="en-US"/>
          </a:p>
          <a:p>
            <a:r>
              <a:rPr lang="zh-CN" altLang="en-US"/>
              <a:t>看</a:t>
            </a:r>
            <a:r>
              <a:rPr lang="en-US" altLang="zh-CN"/>
              <a:t>blog</a:t>
            </a:r>
            <a:r>
              <a:rPr lang="zh-CN" altLang="en-US"/>
              <a:t>了解细节</a:t>
            </a:r>
            <a:r>
              <a:rPr lang="en-US" altLang="zh-CN"/>
              <a:t>[https://blog.csdn.net/m0_59772307/article/details/137904087[csdn vip</a:t>
            </a:r>
            <a:r>
              <a:rPr lang="zh-CN" altLang="en-US"/>
              <a:t>没看</a:t>
            </a:r>
            <a:r>
              <a:rPr lang="en-US" altLang="zh-CN"/>
              <a:t>],https://www.cnblogs.com/kongen/p/18088002]</a:t>
            </a:r>
            <a:endParaRPr lang="en-US" altLang="zh-CN"/>
          </a:p>
          <a:p>
            <a:r>
              <a:rPr lang="zh-CN" altLang="en-US">
                <a:sym typeface="+mn-ea"/>
              </a:rPr>
              <a:t>查</a:t>
            </a:r>
            <a:r>
              <a:rPr lang="en-US" altLang="zh-CN">
                <a:sym typeface="+mn-ea"/>
              </a:rPr>
              <a:t>BLEU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BPE</a:t>
            </a:r>
            <a:r>
              <a:rPr lang="zh-CN" altLang="en-US">
                <a:sym typeface="+mn-ea"/>
              </a:rPr>
              <a:t>具体实现方法</a:t>
            </a:r>
            <a:r>
              <a:rPr lang="en-US" altLang="zh-CN">
                <a:sym typeface="+mn-ea"/>
              </a:rPr>
              <a:t>[https://www.bilibili.com/video/BV1Jb411W7ah/?spm_id_from=333.337.search-card.all.click&amp;vd_source=08e9ae27bb3adb083bafbda9ce4acc91]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torch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cuda</a:t>
            </a:r>
            <a:r>
              <a:rPr lang="zh-CN" altLang="en-US">
                <a:sym typeface="+mn-ea"/>
              </a:rPr>
              <a:t>配</a:t>
            </a:r>
            <a:r>
              <a:rPr lang="en-US" altLang="zh-CN">
                <a:sym typeface="+mn-ea"/>
              </a:rPr>
              <a:t>conda</a:t>
            </a:r>
            <a:r>
              <a:rPr lang="zh-CN" altLang="en-US">
                <a:sym typeface="+mn-ea"/>
              </a:rPr>
              <a:t>环境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查找</a:t>
            </a:r>
            <a:r>
              <a:rPr lang="en-US" altLang="zh-CN">
                <a:sym typeface="+mn-ea"/>
              </a:rPr>
              <a:t>WMT 2014 English-German</a:t>
            </a:r>
            <a:r>
              <a:rPr lang="zh-CN" altLang="en-US">
                <a:sym typeface="+mn-ea"/>
              </a:rPr>
              <a:t>数据，官网</a:t>
            </a:r>
            <a:r>
              <a:rPr lang="en-US" altLang="zh-CN">
                <a:sym typeface="+mn-ea"/>
              </a:rPr>
              <a:t>[https://www.statmt.org/wmt14/]</a:t>
            </a:r>
            <a:r>
              <a:rPr lang="zh-CN" altLang="en-US">
                <a:sym typeface="+mn-ea"/>
              </a:rPr>
              <a:t>有点不清晰，选择</a:t>
            </a:r>
            <a:r>
              <a:rPr lang="en-US" altLang="zh-CN">
                <a:sym typeface="+mn-ea"/>
              </a:rPr>
              <a:t>Kaggle[https://www.kaggle.com/datasets/mohamedlotfy50/wmt-2014-english-german]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Hugginface[https://huggingface.co/datasets/wmt/wmt14]</a:t>
            </a:r>
            <a:r>
              <a:rPr lang="zh-CN" altLang="en-US">
                <a:sym typeface="+mn-ea"/>
              </a:rPr>
              <a:t>的数据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400">
                <a:sym typeface="+mn-ea"/>
              </a:rPr>
              <a:t>二、复现流程</a:t>
            </a:r>
            <a:endParaRPr lang="zh-CN" altLang="en-US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数据加载通过</a:t>
            </a:r>
            <a:r>
              <a:rPr lang="en-US" altLang="zh-CN"/>
              <a:t>pd</a:t>
            </a:r>
            <a:r>
              <a:rPr lang="zh-CN" altLang="en-US"/>
              <a:t>和</a:t>
            </a:r>
            <a:r>
              <a:rPr lang="en-US" altLang="zh-CN"/>
              <a:t>torch.Dataset</a:t>
            </a:r>
            <a:r>
              <a:rPr lang="zh-CN" altLang="en-US"/>
              <a:t>实现</a:t>
            </a:r>
            <a:r>
              <a:rPr lang="en-US" altLang="zh-CN"/>
              <a:t>[</a:t>
            </a:r>
            <a:r>
              <a:rPr lang="zh-CN" altLang="en-US"/>
              <a:t>学习了</a:t>
            </a:r>
            <a:r>
              <a:rPr lang="en-US" altLang="zh-CN"/>
              <a:t>torch</a:t>
            </a:r>
            <a:r>
              <a:rPr lang="zh-CN" altLang="en-US"/>
              <a:t>的数据加载流程</a:t>
            </a:r>
            <a:r>
              <a:rPr lang="en-US" altLang="zh-CN"/>
              <a:t>:Dataset-&gt;Sampler-&gt;collate_funciton</a:t>
            </a:r>
            <a:r>
              <a:rPr lang="zh-CN" altLang="en-US"/>
              <a:t>构成</a:t>
            </a:r>
            <a:r>
              <a:rPr lang="en-US" altLang="zh-CN"/>
              <a:t>DataLoader</a:t>
            </a:r>
            <a:r>
              <a:rPr lang="zh-CN" altLang="en-US"/>
              <a:t>，对</a:t>
            </a:r>
            <a:r>
              <a:rPr lang="en-US" altLang="zh-CN"/>
              <a:t>Dataloader</a:t>
            </a:r>
            <a:r>
              <a:rPr lang="zh-CN" altLang="en-US"/>
              <a:t>调用迭代器方法获得下一个</a:t>
            </a:r>
            <a:r>
              <a:rPr lang="en-US" altLang="zh-CN"/>
              <a:t>batch]</a:t>
            </a:r>
            <a:endParaRPr lang="zh-CN" altLang="en-US"/>
          </a:p>
          <a:p>
            <a:r>
              <a:rPr lang="zh-CN" altLang="en-US"/>
              <a:t>给出两种实现：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使用</a:t>
            </a:r>
            <a:r>
              <a:rPr lang="en-US" altLang="zh-CN"/>
              <a:t>torch.transformer</a:t>
            </a:r>
            <a:r>
              <a:rPr lang="zh-CN" altLang="en-US"/>
              <a:t>直接运行，目的是测试</a:t>
            </a:r>
            <a:r>
              <a:rPr lang="en-US" altLang="zh-CN"/>
              <a:t>config</a:t>
            </a:r>
            <a:r>
              <a:rPr lang="zh-CN" altLang="en-US"/>
              <a:t>和数据加载是否有问题</a:t>
            </a:r>
            <a:r>
              <a:rPr lang="en-US" altLang="zh-CN"/>
              <a:t>[</a:t>
            </a:r>
            <a:r>
              <a:rPr lang="zh-CN" altLang="en-US"/>
              <a:t>这里</a:t>
            </a:r>
            <a:r>
              <a:rPr lang="en-US" altLang="zh-CN"/>
              <a:t>config</a:t>
            </a:r>
            <a:r>
              <a:rPr lang="zh-CN" altLang="en-US"/>
              <a:t>写成</a:t>
            </a:r>
            <a:r>
              <a:rPr lang="en-US" altLang="zh-CN"/>
              <a:t>de2en</a:t>
            </a:r>
            <a:r>
              <a:rPr lang="zh-CN" altLang="en-US"/>
              <a:t>了</a:t>
            </a:r>
            <a:r>
              <a:rPr lang="en-US" altLang="zh-CN"/>
              <a:t>]</a:t>
            </a:r>
            <a:r>
              <a:rPr lang="zh-CN" altLang="en-US"/>
              <a:t>，以及</a:t>
            </a:r>
            <a:r>
              <a:rPr lang="en-US" altLang="zh-CN"/>
              <a:t>BLEU</a:t>
            </a:r>
            <a:r>
              <a:rPr lang="zh-CN" altLang="en-US"/>
              <a:t>测试效果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使用基于</a:t>
            </a:r>
            <a:r>
              <a:rPr lang="en-US" altLang="zh-CN"/>
              <a:t>torch.nn.liner</a:t>
            </a:r>
            <a:r>
              <a:rPr lang="zh-CN" altLang="en-US"/>
              <a:t>和基本的组件构成</a:t>
            </a:r>
            <a:r>
              <a:rPr lang="en-US" altLang="zh-CN"/>
              <a:t>attn</a:t>
            </a:r>
            <a:r>
              <a:rPr lang="zh-CN" altLang="en-US"/>
              <a:t>、</a:t>
            </a:r>
            <a:r>
              <a:rPr lang="en-US" altLang="zh-CN"/>
              <a:t>ffn</a:t>
            </a:r>
            <a:r>
              <a:rPr lang="zh-CN" altLang="en-US"/>
              <a:t>，继续构成</a:t>
            </a:r>
            <a:r>
              <a:rPr lang="en-US" altLang="zh-CN"/>
              <a:t>encoder</a:t>
            </a:r>
            <a:r>
              <a:rPr lang="zh-CN" altLang="en-US"/>
              <a:t>和</a:t>
            </a:r>
            <a:r>
              <a:rPr lang="en-US" altLang="zh-CN"/>
              <a:t>decoder</a:t>
            </a:r>
            <a:r>
              <a:rPr lang="zh-CN" altLang="en-US"/>
              <a:t>、</a:t>
            </a:r>
            <a:r>
              <a:rPr lang="en-US" altLang="zh-CN"/>
              <a:t>transformer</a:t>
            </a:r>
            <a:r>
              <a:rPr lang="zh-CN" altLang="en-US"/>
              <a:t>整体架构，目的是测试实现是否有问题</a:t>
            </a:r>
            <a:endParaRPr lang="zh-CN" altLang="en-US"/>
          </a:p>
          <a:p>
            <a:r>
              <a:rPr lang="zh-CN" altLang="en-US"/>
              <a:t>结果如下：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50" y="4192905"/>
            <a:ext cx="4227195" cy="2250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400">
                <a:sym typeface="+mn-ea"/>
              </a:rPr>
              <a:t>三、问题</a:t>
            </a:r>
            <a:endParaRPr lang="zh-CN" altLang="en-US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1304270" cy="4351655"/>
          </a:xfrm>
        </p:spPr>
        <p:txBody>
          <a:bodyPr>
            <a:noAutofit/>
          </a:bodyPr>
          <a:p>
            <a:r>
              <a:rPr lang="en-US" altLang="zh-CN"/>
              <a:t>Q0: parquet</a:t>
            </a:r>
            <a:r>
              <a:rPr lang="zh-CN" altLang="en-US"/>
              <a:t>的</a:t>
            </a:r>
            <a:r>
              <a:rPr lang="en-US" altLang="zh-CN"/>
              <a:t>train</a:t>
            </a:r>
            <a:r>
              <a:rPr lang="zh-CN" altLang="en-US"/>
              <a:t>有多个文件</a:t>
            </a:r>
            <a:r>
              <a:rPr lang="en-US" altLang="zh-CN"/>
              <a:t> A0: </a:t>
            </a:r>
            <a:r>
              <a:rPr lang="zh-CN" altLang="en-US"/>
              <a:t>改</a:t>
            </a:r>
            <a:r>
              <a:rPr lang="en-US" altLang="zh-CN"/>
              <a:t>path</a:t>
            </a:r>
            <a:r>
              <a:rPr lang="zh-CN" altLang="en-US"/>
              <a:t>为</a:t>
            </a:r>
            <a:r>
              <a:rPr lang="en-US" altLang="zh-CN"/>
              <a:t>paths，</a:t>
            </a:r>
            <a:r>
              <a:rPr lang="zh-CN" altLang="en-US"/>
              <a:t>遍历各</a:t>
            </a:r>
            <a:r>
              <a:rPr lang="en-US" altLang="zh-CN"/>
              <a:t>path</a:t>
            </a:r>
            <a:r>
              <a:rPr lang="zh-CN" altLang="en-US"/>
              <a:t>按行读入，用</a:t>
            </a:r>
            <a:r>
              <a:rPr lang="en-US" altLang="zh-CN"/>
              <a:t>limit</a:t>
            </a:r>
            <a:r>
              <a:rPr lang="zh-CN" altLang="en-US"/>
              <a:t>约束最多行</a:t>
            </a:r>
            <a:endParaRPr lang="zh-CN" altLang="en-US"/>
          </a:p>
          <a:p>
            <a:r>
              <a:rPr lang="en-US" altLang="zh-CN"/>
              <a:t>Q2: </a:t>
            </a:r>
            <a:r>
              <a:rPr lang="zh-CN" altLang="en-US"/>
              <a:t>每次</a:t>
            </a:r>
            <a:r>
              <a:rPr lang="en-US" altLang="zh-CN"/>
              <a:t>bpe</a:t>
            </a:r>
            <a:r>
              <a:rPr lang="zh-CN" altLang="en-US"/>
              <a:t>需要重建</a:t>
            </a:r>
            <a:r>
              <a:rPr lang="en-US" altLang="zh-CN"/>
              <a:t>encode</a:t>
            </a:r>
            <a:r>
              <a:rPr lang="zh-CN" altLang="en-US"/>
              <a:t>的</a:t>
            </a:r>
            <a:r>
              <a:rPr lang="en-US" altLang="zh-CN"/>
              <a:t>length A2: </a:t>
            </a:r>
            <a:r>
              <a:rPr lang="zh-CN" altLang="en-US"/>
              <a:t>引入</a:t>
            </a:r>
            <a:r>
              <a:rPr lang="en-US" altLang="zh-CN"/>
              <a:t>lengths</a:t>
            </a:r>
            <a:r>
              <a:rPr lang="zh-CN" altLang="en-US"/>
              <a:t>的</a:t>
            </a:r>
            <a:r>
              <a:rPr lang="en-US" altLang="zh-CN"/>
              <a:t>cache</a:t>
            </a:r>
            <a:endParaRPr lang="en-US" altLang="zh-CN"/>
          </a:p>
          <a:p>
            <a:r>
              <a:rPr lang="en-US" altLang="zh-CN"/>
              <a:t>Q3: </a:t>
            </a:r>
            <a:r>
              <a:rPr lang="zh-CN" altLang="en-US"/>
              <a:t>语法错误和接口设计</a:t>
            </a:r>
            <a:r>
              <a:rPr lang="en-US" altLang="zh-CN"/>
              <a:t> A3: </a:t>
            </a:r>
            <a:r>
              <a:rPr lang="zh-CN" altLang="en-US"/>
              <a:t>先写出主干，</a:t>
            </a:r>
            <a:r>
              <a:rPr lang="en-US" altLang="zh-CN"/>
              <a:t>ai</a:t>
            </a:r>
            <a:r>
              <a:rPr lang="zh-CN" altLang="en-US"/>
              <a:t>检测</a:t>
            </a:r>
            <a:endParaRPr lang="zh-CN" altLang="en-US"/>
          </a:p>
          <a:p>
            <a:r>
              <a:rPr lang="en-US" altLang="zh-CN"/>
              <a:t>Q4: </a:t>
            </a:r>
            <a:r>
              <a:rPr lang="zh-CN" altLang="en-US"/>
              <a:t>拆分</a:t>
            </a:r>
            <a:r>
              <a:rPr lang="en-US" altLang="zh-CN"/>
              <a:t>transformer</a:t>
            </a:r>
            <a:r>
              <a:rPr lang="zh-CN" altLang="en-US"/>
              <a:t>时出现跨部件的调用</a:t>
            </a:r>
            <a:r>
              <a:rPr lang="en-US" altLang="zh-CN"/>
              <a:t> A4: </a:t>
            </a:r>
            <a:r>
              <a:rPr lang="zh-CN" altLang="en-US"/>
              <a:t>提供专门方法实现；进一步地，直接把需要调用的操作封装在部件中(</a:t>
            </a:r>
            <a:r>
              <a:rPr lang="en-US" altLang="zh-CN"/>
              <a:t>position-embedding、tgt_mask)</a:t>
            </a:r>
            <a:endParaRPr lang="en-US" altLang="zh-CN"/>
          </a:p>
          <a:p>
            <a:r>
              <a:rPr lang="en-US" altLang="zh-CN"/>
              <a:t>Q5: </a:t>
            </a:r>
            <a:r>
              <a:rPr lang="zh-CN" altLang="en-US"/>
              <a:t>参数初始化没有明确写出</a:t>
            </a:r>
            <a:r>
              <a:rPr lang="en-US" altLang="zh-CN"/>
              <a:t> A5: </a:t>
            </a:r>
            <a:r>
              <a:rPr lang="zh-CN" altLang="en-US"/>
              <a:t>使用</a:t>
            </a:r>
            <a:r>
              <a:rPr lang="en-US" altLang="zh-CN"/>
              <a:t>Xavier/</a:t>
            </a:r>
            <a:r>
              <a:rPr lang="zh-CN" altLang="en-US"/>
              <a:t>标准正态；</a:t>
            </a:r>
            <a:r>
              <a:rPr lang="en-US" altLang="zh-CN"/>
              <a:t>embedding</a:t>
            </a:r>
            <a:r>
              <a:rPr lang="zh-CN" altLang="en-US"/>
              <a:t>使用</a:t>
            </a:r>
            <a:r>
              <a:rPr lang="en-US" altLang="zh-CN"/>
              <a:t>xavier</a:t>
            </a:r>
            <a:r>
              <a:rPr lang="zh-CN" altLang="en-US"/>
              <a:t>发现</a:t>
            </a:r>
            <a:r>
              <a:rPr lang="en-US" altLang="zh-CN"/>
              <a:t>smoke</a:t>
            </a:r>
            <a:r>
              <a:rPr lang="zh-CN" altLang="en-US"/>
              <a:t>测试时不下降，</a:t>
            </a:r>
            <a:r>
              <a:rPr lang="en-US" altLang="zh-CN"/>
              <a:t>debug</a:t>
            </a:r>
            <a:r>
              <a:rPr lang="zh-CN" altLang="en-US"/>
              <a:t>发现瓶颈时</a:t>
            </a:r>
            <a:r>
              <a:rPr lang="en-US" altLang="zh-CN"/>
              <a:t>pos</a:t>
            </a:r>
            <a:r>
              <a:rPr lang="zh-CN" altLang="en-US"/>
              <a:t>盖过</a:t>
            </a:r>
            <a:r>
              <a:rPr lang="en-US" altLang="zh-CN"/>
              <a:t>bpe</a:t>
            </a:r>
            <a:r>
              <a:rPr lang="zh-CN" altLang="en-US"/>
              <a:t>的内容[0.7：0.4]，根号</a:t>
            </a:r>
            <a:r>
              <a:rPr lang="en-US" altLang="zh-CN"/>
              <a:t>d-model</a:t>
            </a:r>
            <a:r>
              <a:rPr lang="zh-CN" altLang="en-US"/>
              <a:t>缩放**</a:t>
            </a:r>
            <a:r>
              <a:rPr lang="en-US" altLang="zh-CN"/>
              <a:t>ERROR：</a:t>
            </a:r>
            <a:r>
              <a:rPr lang="zh-CN" altLang="en-US"/>
              <a:t>应该是^-0.5**；修复后成功返回1:1</a:t>
            </a:r>
            <a:endParaRPr lang="en-US" altLang="zh-CN"/>
          </a:p>
          <a:p>
            <a:r>
              <a:rPr lang="en-US" altLang="zh-CN"/>
              <a:t>Q6: bpe</a:t>
            </a:r>
            <a:r>
              <a:rPr lang="zh-CN" altLang="en-US"/>
              <a:t>重新训练耗时</a:t>
            </a:r>
            <a:r>
              <a:rPr lang="en-US" altLang="zh-CN"/>
              <a:t> A6: </a:t>
            </a:r>
            <a:r>
              <a:rPr lang="zh-CN" altLang="en-US"/>
              <a:t>存储</a:t>
            </a:r>
            <a:r>
              <a:rPr lang="en-US" altLang="zh-CN"/>
              <a:t>vocab</a:t>
            </a:r>
            <a:r>
              <a:rPr lang="zh-CN" altLang="en-US"/>
              <a:t>和</a:t>
            </a:r>
            <a:r>
              <a:rPr lang="en-US" altLang="zh-CN"/>
              <a:t>merge</a:t>
            </a:r>
            <a:r>
              <a:rPr lang="zh-CN" altLang="en-US"/>
              <a:t>过程来避免反复训练；考虑减少大量数据的反复</a:t>
            </a:r>
            <a:r>
              <a:rPr lang="en-US" altLang="zh-CN"/>
              <a:t>cp-paste，resort</a:t>
            </a:r>
            <a:r>
              <a:rPr lang="zh-CN" altLang="en-US"/>
              <a:t>和</a:t>
            </a:r>
            <a:r>
              <a:rPr lang="en-US" altLang="zh-CN"/>
              <a:t>sample</a:t>
            </a:r>
            <a:r>
              <a:rPr lang="zh-CN" altLang="en-US"/>
              <a:t>时通过</a:t>
            </a:r>
            <a:r>
              <a:rPr lang="en-US" altLang="zh-CN"/>
              <a:t>index</a:t>
            </a:r>
            <a:r>
              <a:rPr lang="zh-CN" altLang="en-US"/>
              <a:t>操作和</a:t>
            </a:r>
            <a:r>
              <a:rPr lang="en-US" altLang="zh-CN"/>
              <a:t>getitem</a:t>
            </a:r>
            <a:endParaRPr lang="en-US" altLang="zh-CN"/>
          </a:p>
          <a:p>
            <a:r>
              <a:rPr lang="en-US" altLang="zh-CN"/>
              <a:t>Q7: </a:t>
            </a:r>
            <a:r>
              <a:rPr lang="zh-CN" altLang="en-US"/>
              <a:t>过拟合[</a:t>
            </a:r>
            <a:r>
              <a:rPr lang="en-US" altLang="zh-CN"/>
              <a:t>log](log.txt) A7: </a:t>
            </a:r>
            <a:r>
              <a:rPr lang="zh-CN" altLang="en-US"/>
              <a:t>调整初始化，增加</a:t>
            </a:r>
            <a:r>
              <a:rPr lang="en-US" altLang="zh-CN"/>
              <a:t>layernorm【attn】</a:t>
            </a:r>
            <a:r>
              <a:rPr lang="zh-CN" altLang="en-US"/>
              <a:t>；但是后面发现可能没有，因为在</a:t>
            </a:r>
            <a:r>
              <a:rPr lang="en-US" altLang="zh-CN"/>
              <a:t>6w steps</a:t>
            </a:r>
            <a:r>
              <a:rPr lang="zh-CN" altLang="en-US"/>
              <a:t>时下降了</a:t>
            </a:r>
            <a:endParaRPr lang="zh-CN" altLang="en-US"/>
          </a:p>
          <a:p>
            <a:r>
              <a:rPr lang="zh-CN" altLang="en-US"/>
              <a:t>其他细节：</a:t>
            </a:r>
            <a:r>
              <a:rPr lang="en-US" altLang="zh-CN"/>
              <a:t>encoder</a:t>
            </a:r>
            <a:r>
              <a:rPr lang="zh-CN" altLang="en-US"/>
              <a:t>、</a:t>
            </a:r>
            <a:r>
              <a:rPr lang="en-US" altLang="zh-CN"/>
              <a:t>decoder</a:t>
            </a:r>
            <a:r>
              <a:rPr lang="zh-CN" altLang="en-US"/>
              <a:t>共享参数、</a:t>
            </a:r>
            <a:r>
              <a:rPr lang="en-US" altLang="zh-CN"/>
              <a:t>embedding</a:t>
            </a:r>
            <a:r>
              <a:rPr lang="zh-CN" altLang="en-US"/>
              <a:t>的本质是</a:t>
            </a:r>
            <a:r>
              <a:rPr lang="en-US" altLang="zh-CN"/>
              <a:t>one-hot</a:t>
            </a:r>
            <a:r>
              <a:rPr lang="zh-CN" altLang="en-US"/>
              <a:t>到</a:t>
            </a:r>
            <a:r>
              <a:rPr lang="en-US" altLang="zh-CN"/>
              <a:t>tensor</a:t>
            </a:r>
            <a:r>
              <a:rPr lang="zh-CN" altLang="en-US"/>
              <a:t>的映射等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400">
                <a:sym typeface="+mn-ea"/>
              </a:rPr>
              <a:t>四、总结</a:t>
            </a:r>
            <a:endParaRPr lang="zh-CN" altLang="en-US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深入了解了</a:t>
            </a:r>
            <a:r>
              <a:rPr lang="en-US" altLang="zh-CN"/>
              <a:t>transformer</a:t>
            </a:r>
            <a:r>
              <a:rPr lang="zh-CN" altLang="en-US"/>
              <a:t>结构、以及</a:t>
            </a:r>
            <a:r>
              <a:rPr lang="en-US" altLang="zh-CN"/>
              <a:t>bpe</a:t>
            </a:r>
            <a:r>
              <a:rPr lang="zh-CN" altLang="en-US"/>
              <a:t>和</a:t>
            </a:r>
            <a:r>
              <a:rPr lang="en-US" altLang="zh-CN"/>
              <a:t>BLEU</a:t>
            </a:r>
            <a:r>
              <a:rPr lang="zh-CN" altLang="en-US"/>
              <a:t>评价指标的计算方式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明确了</a:t>
            </a:r>
            <a:r>
              <a:rPr lang="en-US" altLang="zh-CN"/>
              <a:t>torch</a:t>
            </a:r>
            <a:r>
              <a:rPr lang="zh-CN" altLang="en-US"/>
              <a:t>的数据加载流程，</a:t>
            </a:r>
            <a:r>
              <a:rPr lang="en-US" altLang="zh-CN"/>
              <a:t>Dataloader\Dataset\Sampler\collate_fn</a:t>
            </a:r>
            <a:r>
              <a:rPr lang="zh-CN" altLang="en-US"/>
              <a:t>的配合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设计各组件接口，保证</a:t>
            </a:r>
            <a:r>
              <a:rPr lang="en-US" altLang="zh-CN"/>
              <a:t>private</a:t>
            </a:r>
            <a:r>
              <a:rPr lang="zh-CN" altLang="en-US"/>
              <a:t>与功能性的权衡</a:t>
            </a:r>
            <a:r>
              <a:rPr lang="en-US" altLang="zh-CN"/>
              <a:t>[</a:t>
            </a:r>
            <a:r>
              <a:rPr lang="zh-CN" altLang="en-US"/>
              <a:t>这里为了沿用</a:t>
            </a:r>
            <a:r>
              <a:rPr lang="en-US" altLang="zh-CN"/>
              <a:t>main</a:t>
            </a:r>
            <a:r>
              <a:rPr lang="zh-CN" altLang="en-US"/>
              <a:t>的</a:t>
            </a:r>
            <a:r>
              <a:rPr lang="en-US" altLang="zh-CN"/>
              <a:t>test-code</a:t>
            </a:r>
            <a:r>
              <a:rPr lang="zh-CN" altLang="en-US"/>
              <a:t>，保留了一些从</a:t>
            </a:r>
            <a:r>
              <a:rPr lang="en-US" altLang="zh-CN"/>
              <a:t>transformer</a:t>
            </a:r>
            <a:r>
              <a:rPr lang="zh-CN" altLang="en-US"/>
              <a:t>的接口</a:t>
            </a:r>
            <a:r>
              <a:rPr lang="en-US" altLang="zh-CN"/>
              <a:t>]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4400"/>
              <a:t>References</a:t>
            </a:r>
            <a:endParaRPr lang="en-US" altLang="zh-CN" sz="4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过程和结果见：</a:t>
            </a:r>
            <a:r>
              <a:rPr lang="en-US" altLang="zh-CN">
                <a:sym typeface="+mn-ea"/>
              </a:rPr>
              <a:t>https://github.com/Gingkoleaves/TJ_Reproduce_Transformer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WPS 演示</Application>
  <PresentationFormat>宽屏</PresentationFormat>
  <Paragraphs>50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Noto Serif CJK SC</vt:lpstr>
      <vt:lpstr>Microsoft YaHei</vt:lpstr>
      <vt:lpstr>文泉驿正黑</vt:lpstr>
      <vt:lpstr>Arial Unicode MS</vt:lpstr>
      <vt:lpstr>Calibri</vt:lpstr>
      <vt:lpstr>Trebuchet MS</vt:lpstr>
      <vt:lpstr>OpenSymbol</vt:lpstr>
      <vt:lpstr>SimSun</vt:lpstr>
      <vt:lpstr>WPS</vt:lpstr>
      <vt:lpstr>PowerPoint 演示文稿</vt:lpstr>
      <vt:lpstr>PowerPoint 演示文稿</vt:lpstr>
      <vt:lpstr>PowerPoint 演示文稿</vt:lpstr>
      <vt:lpstr>一、前期准备</vt:lpstr>
      <vt:lpstr>一、前期准备</vt:lpstr>
      <vt:lpstr>一、前期准备</vt:lpstr>
      <vt:lpstr>一、前期准备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gingkoleaves</cp:lastModifiedBy>
  <cp:revision>25</cp:revision>
  <dcterms:created xsi:type="dcterms:W3CDTF">2026-07-03T07:28:36Z</dcterms:created>
  <dcterms:modified xsi:type="dcterms:W3CDTF">2026-07-03T07:28:36Z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2052-12.1.2.25882</vt:lpwstr>
  </property>
  <property fmtid="{D5CDD505-2E9C-101B-9397-08002B2CF9AE}" pid="3" name="ICV">
    <vt:lpwstr>2973ACCC0168D2047B64476A62C324B4_42</vt:lpwstr>
  </property>
</Properties>
</file>